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6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0" y="-914400"/>
            <a:ext cx="4572000" cy="4572000"/>
          </a:xfrm>
          <a:prstGeom prst="rect">
            <a:avLst/>
          </a:prstGeom>
          <a:solidFill>
            <a:srgbClr val="003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5400" b="1" i="0">
                <a:solidFill>
                  <a:srgbClr val="00A355"/>
                </a:solidFill>
              </a:rPr>
              <a:t>منصة سند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0" i="0">
                <a:solidFill>
                  <a:srgbClr val="A5D6A7"/>
                </a:solidFill>
              </a:rPr>
              <a:t>المنصة الجزائرية الإعلامية الشاملة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0" y="3566160"/>
            <a:ext cx="1554480" cy="45720"/>
          </a:xfrm>
          <a:prstGeom prst="rect">
            <a:avLst/>
          </a:prstGeom>
          <a:solidFill>
            <a:srgbClr val="00A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1">
                <a:solidFill>
                  <a:srgbClr val="6AAD6A"/>
                </a:solidFill>
              </a:rPr>
              <a:t>sanadz.media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6AAD6A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6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A355"/>
                </a:solidFill>
              </a:rPr>
              <a:t>المشكلة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FFFFFF"/>
                </a:solidFill>
              </a:rPr>
              <a:t>قطاع الإعلام في الجزائر يفتقر إلى منصة رقمية موحّدة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1600200"/>
            <a:ext cx="1371600" cy="45720"/>
          </a:xfrm>
          <a:prstGeom prst="rect">
            <a:avLst/>
          </a:prstGeom>
          <a:solidFill>
            <a:srgbClr val="00A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2011680"/>
            <a:ext cx="5303520" cy="1691640"/>
          </a:xfrm>
          <a:prstGeom prst="rect">
            <a:avLst/>
          </a:prstGeom>
          <a:solidFill>
            <a:srgbClr val="141414"/>
          </a:solidFill>
          <a:ln w="1270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148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00A355"/>
                </a:solidFill>
              </a:rPr>
              <a:t>🔍  تشتّت الفرص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51460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A5D6A7"/>
                </a:solidFill>
              </a:rPr>
              <a:t>فرص التوظيف والتدريب مبعثرة على عشرات المواقع والصفحات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39" y="2011680"/>
            <a:ext cx="5303520" cy="1691640"/>
          </a:xfrm>
          <a:prstGeom prst="rect">
            <a:avLst/>
          </a:prstGeom>
          <a:solidFill>
            <a:srgbClr val="141414"/>
          </a:solidFill>
          <a:ln w="1270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19" y="2148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00A355"/>
                </a:solidFill>
              </a:rPr>
              <a:t>📚  غياب التدريب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251460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A5D6A7"/>
                </a:solidFill>
              </a:rPr>
              <a:t>لا توجد منصة متخصصة تجمع الدورات الإعلامية الجزائرية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3931920"/>
            <a:ext cx="5303520" cy="1691640"/>
          </a:xfrm>
          <a:prstGeom prst="rect">
            <a:avLst/>
          </a:prstGeom>
          <a:solidFill>
            <a:srgbClr val="141414"/>
          </a:solidFill>
          <a:ln w="1270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0690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00A355"/>
                </a:solidFill>
              </a:rPr>
              <a:t>🤝  ضعف التواصل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43484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A5D6A7"/>
                </a:solidFill>
              </a:rPr>
              <a:t>الإعلاميون يصعب عليهم التواصل مع بعضهم والتعاون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39" y="3931920"/>
            <a:ext cx="5303520" cy="1691640"/>
          </a:xfrm>
          <a:prstGeom prst="rect">
            <a:avLst/>
          </a:prstGeom>
          <a:solidFill>
            <a:srgbClr val="141414"/>
          </a:solidFill>
          <a:ln w="1270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19" y="40690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00A355"/>
                </a:solidFill>
              </a:rPr>
              <a:t>🛒  سوق المعدات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19" y="443484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A5D6A7"/>
                </a:solidFill>
              </a:rPr>
              <a:t>لا يوجد سوق رقمي موثوق لمعدات الإعلام في الجزائر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6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A355"/>
                </a:solidFill>
              </a:rPr>
              <a:t>الحل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1" i="0">
                <a:solidFill>
                  <a:srgbClr val="FFFFFF"/>
                </a:solidFill>
              </a:rPr>
              <a:t>سند — المنصة الجزائرية الإعلامية الشاملة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1600200"/>
            <a:ext cx="1371600" cy="45720"/>
          </a:xfrm>
          <a:prstGeom prst="rect">
            <a:avLst/>
          </a:prstGeom>
          <a:solidFill>
            <a:srgbClr val="00A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A5D6A7"/>
                </a:solidFill>
              </a:rPr>
              <a:t>منصة رقمية واحدة تجمع الإعلاميين الجزائريين وتوفر لهم كل ما يحتاجونه:
التوظيف · التدريب · المعدات · المنشطون · المسابقات · الأخبار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3200400"/>
            <a:ext cx="3291840" cy="11887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35204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0A355"/>
                </a:solidFill>
              </a:rPr>
              <a:t>💼 توظيف إعلامي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3200400"/>
            <a:ext cx="3291840" cy="11887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35204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0A355"/>
                </a:solidFill>
              </a:rPr>
              <a:t>🎓 دورات تدريبية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00400"/>
            <a:ext cx="3291840" cy="11887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5204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0A355"/>
                </a:solidFill>
              </a:rPr>
              <a:t>📦 سوق المعدات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4663440"/>
            <a:ext cx="3291840" cy="11887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4983479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0A355"/>
                </a:solidFill>
              </a:rPr>
              <a:t>🎙️ المنشطون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4663440"/>
            <a:ext cx="3291840" cy="11887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4983479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0A355"/>
                </a:solidFill>
              </a:rPr>
              <a:t>🏆 مسابقات إعلامية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663440"/>
            <a:ext cx="3291840" cy="11887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983479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0A355"/>
                </a:solidFill>
              </a:rPr>
              <a:t>📺 دليل القنوات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6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A355"/>
                </a:solidFill>
              </a:rPr>
              <a:t>خدمات المنصة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FFFFFF"/>
                </a:solidFill>
              </a:rPr>
              <a:t>8 خدمات متكاملة في منصة واحدة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1600200"/>
            <a:ext cx="1371600" cy="45720"/>
          </a:xfrm>
          <a:prstGeom prst="rect">
            <a:avLst/>
          </a:prstGeom>
          <a:solidFill>
            <a:srgbClr val="00A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920240"/>
            <a:ext cx="5120640" cy="1005840"/>
          </a:xfrm>
          <a:prstGeom prst="rect">
            <a:avLst/>
          </a:prstGeom>
          <a:solidFill>
            <a:srgbClr val="141414"/>
          </a:solidFill>
          <a:ln w="1270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A355"/>
                </a:solidFill>
              </a:rPr>
              <a:t>● التوظيف الإعلامي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3774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5D6A7"/>
                </a:solidFill>
              </a:rPr>
              <a:t>فرص عمل من قنوات ومؤسسات إعلامية في كل الجزائر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39" y="1920240"/>
            <a:ext cx="5120640" cy="1005840"/>
          </a:xfrm>
          <a:prstGeom prst="rect">
            <a:avLst/>
          </a:prstGeom>
          <a:solidFill>
            <a:srgbClr val="141414"/>
          </a:solidFill>
          <a:ln w="1270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19" y="2011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A355"/>
                </a:solidFill>
              </a:rPr>
              <a:t>● الدورات التدريبية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23774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5D6A7"/>
                </a:solidFill>
              </a:rPr>
              <a:t>برامج تدريبية من مدربين معتمدين في الصحافة والإنتاج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3063240"/>
            <a:ext cx="5120640" cy="1005840"/>
          </a:xfrm>
          <a:prstGeom prst="rect">
            <a:avLst/>
          </a:prstGeom>
          <a:solidFill>
            <a:srgbClr val="141414"/>
          </a:solidFill>
          <a:ln w="1270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154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A355"/>
                </a:solidFill>
              </a:rPr>
              <a:t>● سوق المعدات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5204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5D6A7"/>
                </a:solidFill>
              </a:rPr>
              <a:t>بيع وشراء معدات التصوير والصوت والبث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39" y="3063240"/>
            <a:ext cx="5120640" cy="1005840"/>
          </a:xfrm>
          <a:prstGeom prst="rect">
            <a:avLst/>
          </a:prstGeom>
          <a:solidFill>
            <a:srgbClr val="141414"/>
          </a:solidFill>
          <a:ln w="1270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19" y="3154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A355"/>
                </a:solidFill>
              </a:rPr>
              <a:t>● المنشطون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19" y="35204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5D6A7"/>
                </a:solidFill>
              </a:rPr>
              <a:t>قاعدة بيانات لمنشطي البرامج والفعاليات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4206240"/>
            <a:ext cx="5120640" cy="1005840"/>
          </a:xfrm>
          <a:prstGeom prst="rect">
            <a:avLst/>
          </a:prstGeom>
          <a:solidFill>
            <a:srgbClr val="141414"/>
          </a:solidFill>
          <a:ln w="1270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29767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A355"/>
                </a:solidFill>
              </a:rPr>
              <a:t>● المسابقات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6634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5D6A7"/>
                </a:solidFill>
              </a:rPr>
              <a:t>مسابقات إعلامية محلية ودولية للطلاب والمحترفين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39" y="4206240"/>
            <a:ext cx="5120640" cy="1005840"/>
          </a:xfrm>
          <a:prstGeom prst="rect">
            <a:avLst/>
          </a:prstGeom>
          <a:solidFill>
            <a:srgbClr val="141414"/>
          </a:solidFill>
          <a:ln w="1270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19" y="429767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A355"/>
                </a:solidFill>
              </a:rPr>
              <a:t>● دليل القنوات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19" y="46634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5D6A7"/>
                </a:solidFill>
              </a:rPr>
              <a:t>دليل شامل للقنوات الجزائرية التلفزيونية والإذاعية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5349240"/>
            <a:ext cx="5120640" cy="1005840"/>
          </a:xfrm>
          <a:prstGeom prst="rect">
            <a:avLst/>
          </a:prstGeom>
          <a:solidFill>
            <a:srgbClr val="141414"/>
          </a:solidFill>
          <a:ln w="1270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544067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A355"/>
                </a:solidFill>
              </a:rPr>
              <a:t>● مذكرات التخرج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064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5D6A7"/>
                </a:solidFill>
              </a:rPr>
              <a:t>بنك للأبحاث ومذكرات التخرج في تخصصات الإعلام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39" y="5349240"/>
            <a:ext cx="5120640" cy="1005840"/>
          </a:xfrm>
          <a:prstGeom prst="rect">
            <a:avLst/>
          </a:prstGeom>
          <a:solidFill>
            <a:srgbClr val="141414"/>
          </a:solidFill>
          <a:ln w="1270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19" y="544067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A355"/>
                </a:solidFill>
              </a:rPr>
              <a:t>● الأخبار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19" y="58064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5D6A7"/>
                </a:solidFill>
              </a:rPr>
              <a:t>آخر أخبار قطاع الإعلام في الجزائر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6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A355"/>
                </a:solidFill>
              </a:rPr>
              <a:t>الجمهور المستهدف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FFFFFF"/>
                </a:solidFill>
              </a:rPr>
              <a:t>من يستفيد من سند؟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1600200"/>
            <a:ext cx="1371600" cy="45720"/>
          </a:xfrm>
          <a:prstGeom prst="rect">
            <a:avLst/>
          </a:prstGeom>
          <a:solidFill>
            <a:srgbClr val="00A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0" y="2011680"/>
            <a:ext cx="2560320" cy="41148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0" y="21945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👨‍💻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28346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A355"/>
                </a:solidFill>
              </a:rPr>
              <a:t>الإعلاميون المحترفون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342900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5D6A7"/>
                </a:solidFill>
              </a:rPr>
              <a:t>صحفيون، مصورون، مخرجون، مونتيرون
يبحثون عن فرص عمل وتطوير مهني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199" y="2011680"/>
            <a:ext cx="2560320" cy="41148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79" y="21945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79" y="28346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A355"/>
                </a:solidFill>
              </a:rPr>
              <a:t>طلاب الإعلام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79" y="342900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5D6A7"/>
                </a:solidFill>
              </a:rPr>
              <a:t>طلاب الجامعات الجزائرية في تخصصات
الإعلام والاتصال والصحافة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2011680"/>
            <a:ext cx="2560320" cy="41148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21945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8346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A355"/>
                </a:solidFill>
              </a:rPr>
              <a:t>المؤسسات الإعلامية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42900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5D6A7"/>
                </a:solidFill>
              </a:rPr>
              <a:t>قنوات تلفزيونية، إذاعات، وكالات أنباء
تبحث عن كفاءات إعلامية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2011680"/>
            <a:ext cx="2560320" cy="41148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1945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8346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A355"/>
                </a:solidFill>
              </a:rPr>
              <a:t>مراكز التدريب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42900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5D6A7"/>
                </a:solidFill>
              </a:rPr>
              <a:t>مدربون ومراكز تقدم دورات تدريبية
في مجال الإعلام والإنتاج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6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A355"/>
                </a:solidFill>
              </a:rPr>
              <a:t>السوق المستهدف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1" i="0">
                <a:solidFill>
                  <a:srgbClr val="FFFFFF"/>
                </a:solidFill>
              </a:rPr>
              <a:t>قطاع الإعلام الجزائري — فرصة ضخمة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1600200"/>
            <a:ext cx="1371600" cy="45720"/>
          </a:xfrm>
          <a:prstGeom prst="rect">
            <a:avLst/>
          </a:prstGeom>
          <a:solidFill>
            <a:srgbClr val="00A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0" y="2011680"/>
            <a:ext cx="2560320" cy="25603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0" y="21945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A355"/>
                </a:solidFill>
              </a:rPr>
              <a:t>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3063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ولاية جزائرية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35204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AAD6A"/>
                </a:solidFill>
              </a:rPr>
              <a:t>تغطية كاملة للوطن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199" y="2011680"/>
            <a:ext cx="2560320" cy="25603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199" y="21945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A355"/>
                </a:solidFill>
              </a:rPr>
              <a:t>+500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199" y="3063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وسيلة إعلامية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199" y="35204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AAD6A"/>
                </a:solidFill>
              </a:rPr>
              <a:t>قنوات، إذاعات، مواقع إخبارية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2011680"/>
            <a:ext cx="2560320" cy="25603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21945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A355"/>
                </a:solidFill>
              </a:rPr>
              <a:t>+30,000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063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طالب إعلام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5204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AAD6A"/>
                </a:solidFill>
              </a:rPr>
              <a:t>مسجّلون في الجامعات سنوياً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2011680"/>
            <a:ext cx="2560320" cy="25603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1945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A355"/>
                </a:solidFill>
              </a:rPr>
              <a:t>+10,000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063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إعلامي محترف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5204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AAD6A"/>
                </a:solidFill>
              </a:rPr>
              <a:t>ينشطون في القطاع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9377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5D6A7"/>
                </a:solidFill>
              </a:rPr>
              <a:t>الجزائر تمتلك أكثر من 60 قناة تلفزيونية وأكثر من 100 إذاعة — كلها تحتاج كوادر بشرية مؤهلة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6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A355"/>
                </a:solidFill>
              </a:rPr>
              <a:t>نموذج الأعمال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FFFFFF"/>
                </a:solidFill>
              </a:rPr>
              <a:t>مصادر الإيرادات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1600200"/>
            <a:ext cx="1371600" cy="45720"/>
          </a:xfrm>
          <a:prstGeom prst="rect">
            <a:avLst/>
          </a:prstGeom>
          <a:solidFill>
            <a:srgbClr val="00A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26480" y="2011680"/>
            <a:ext cx="5120640" cy="18288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21945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FFD54F"/>
                </a:solidFill>
              </a:rPr>
              <a:t>💰  اشتراك المتاجر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65176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A5D6A7"/>
                </a:solidFill>
              </a:rPr>
              <a:t>المتاجر المحترفة تدفع اشتراكاً شهرياً
للظهور في سوق المعدات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5120640" cy="18288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FFD54F"/>
                </a:solidFill>
              </a:rPr>
              <a:t>🎓  عمولة الدورات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5176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A5D6A7"/>
                </a:solidFill>
              </a:rPr>
              <a:t>نسبة مئوية من رسوم الدورات
التي تُباع عبر المنصة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4114800"/>
            <a:ext cx="5120640" cy="18288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4297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FFD54F"/>
                </a:solidFill>
              </a:rPr>
              <a:t>📢  الإعلانات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75488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A5D6A7"/>
                </a:solidFill>
              </a:rPr>
              <a:t>إعلانات المؤسسات الإعلامية
والشركات الراغبة في التوظيف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114800"/>
            <a:ext cx="5120640" cy="18288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FFD54F"/>
                </a:solidFill>
              </a:rPr>
              <a:t>⭐  الإبراز المدفوع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75488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A5D6A7"/>
                </a:solidFill>
              </a:rPr>
              <a:t>خدمة الإبراز للمتاجر والمدربين
والمنشطين في نتائج البحث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6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A355"/>
                </a:solidFill>
              </a:rPr>
              <a:t>التقنية المستخدمة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FFFFFF"/>
                </a:solidFill>
              </a:rPr>
              <a:t>منصة حديثة وقابلة للتوسع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1600200"/>
            <a:ext cx="1371600" cy="45720"/>
          </a:xfrm>
          <a:prstGeom prst="rect">
            <a:avLst/>
          </a:prstGeom>
          <a:solidFill>
            <a:srgbClr val="00A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26480" y="2011680"/>
            <a:ext cx="5120640" cy="9144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20848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A355"/>
                </a:solidFill>
              </a:rPr>
              <a:t>React + TypeScript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08483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5D6A7"/>
                </a:solidFill>
              </a:rPr>
              <a:t>واجهة مستخدم سريعة وتفاعلية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5120640" cy="9144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848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A355"/>
                </a:solidFill>
              </a:rPr>
              <a:t>Firebase Firestore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08483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5D6A7"/>
                </a:solidFill>
              </a:rPr>
              <a:t>قاعدة بيانات سحابية آنية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3108960"/>
            <a:ext cx="5120640" cy="9144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318211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A355"/>
                </a:solidFill>
              </a:rPr>
              <a:t>Firebase Auth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18211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5D6A7"/>
                </a:solidFill>
              </a:rPr>
              <a:t>نظام تسجيل دخول آمن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108960"/>
            <a:ext cx="5120640" cy="9144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18211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A355"/>
                </a:solidFill>
              </a:rPr>
              <a:t>Cloudinary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18211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5D6A7"/>
                </a:solidFill>
              </a:rPr>
              <a:t>تخزين وتحسين الصور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4206240"/>
            <a:ext cx="5120640" cy="9144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427939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A355"/>
                </a:solidFill>
              </a:rPr>
              <a:t>PWA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27939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5D6A7"/>
                </a:solidFill>
              </a:rPr>
              <a:t>تطبيق ويب تقدمي — يعمل بدون إنترنت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206240"/>
            <a:ext cx="5120640" cy="9144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27939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A355"/>
                </a:solidFill>
              </a:rPr>
              <a:t>Vercel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27939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5D6A7"/>
                </a:solidFill>
              </a:rPr>
              <a:t>نشر سريع مع CDN عالمي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5303520"/>
            <a:ext cx="5120640" cy="9144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537667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A355"/>
                </a:solidFill>
              </a:rPr>
              <a:t>FCM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537667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5D6A7"/>
                </a:solidFill>
              </a:rPr>
              <a:t>نظام الإشعارات الفورية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303520"/>
            <a:ext cx="5120640" cy="9144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37667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A355"/>
                </a:solidFill>
              </a:rPr>
              <a:t>TailwindCSS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537667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5D6A7"/>
                </a:solidFill>
              </a:rPr>
              <a:t>تصميم متجاوب لكل الأجهزة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6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A355"/>
                </a:solidFill>
              </a:rPr>
              <a:t>ما تم إنجازه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FFFFFF"/>
                </a:solidFill>
              </a:rPr>
              <a:t>المنصة جاهزة وتعمل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1600200"/>
            <a:ext cx="1371600" cy="45720"/>
          </a:xfrm>
          <a:prstGeom prst="rect">
            <a:avLst/>
          </a:prstGeom>
          <a:solidFill>
            <a:srgbClr val="00A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9202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A5D6A7"/>
                </a:solidFill>
              </a:rPr>
              <a:t>✅  المنصة مطلوقة رسمياً على sanadz.media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423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A5D6A7"/>
                </a:solidFill>
              </a:rPr>
              <a:t>✅  8 خدمات رقمية متكاملة تعمل بشكل كامل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9260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A5D6A7"/>
                </a:solidFill>
              </a:rPr>
              <a:t>✅  نظام تسجيل للإعلاميين والمتاجر ومراكز التدريب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429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A5D6A7"/>
                </a:solidFill>
              </a:rPr>
              <a:t>✅  نظام إشعارات فورية (Push Notifications)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931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A5D6A7"/>
                </a:solidFill>
              </a:rPr>
              <a:t>✅  لوحة تحكم إدارية متكاملة للمدير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434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A5D6A7"/>
                </a:solidFill>
              </a:rPr>
              <a:t>✅  لوحة تحكم لكل مستخدم لإدارة ملفه ومنتجاته ودوراته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937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A5D6A7"/>
                </a:solidFill>
              </a:rPr>
              <a:t>✅  تطبيق ويب تقدمي (PWA) — يدعم التثبيت على الجوال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440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A5D6A7"/>
                </a:solidFill>
              </a:rPr>
              <a:t>✅  تصميم RTL كامل باللغة العربية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943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A5D6A7"/>
                </a:solidFill>
              </a:rPr>
              <a:t>✅  نظام موافقة إدارية على كل المحتوى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6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A355"/>
                </a:solidFill>
              </a:rPr>
              <a:t>خارطة الطريق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FFFFFF"/>
                </a:solidFill>
              </a:rPr>
              <a:t>الخطوات القادمة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1600200"/>
            <a:ext cx="1371600" cy="45720"/>
          </a:xfrm>
          <a:prstGeom prst="rect">
            <a:avLst/>
          </a:prstGeom>
          <a:solidFill>
            <a:srgbClr val="00A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80959" y="2011680"/>
            <a:ext cx="3291840" cy="41148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59" y="2011680"/>
            <a:ext cx="3291840" cy="73152"/>
          </a:xfrm>
          <a:prstGeom prst="rect">
            <a:avLst/>
          </a:prstGeom>
          <a:solidFill>
            <a:srgbClr val="00A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21031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A355"/>
                </a:solidFill>
              </a:rPr>
              <a:t>المرحلة 1
المنجزة 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834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AAD6A"/>
                </a:solidFill>
              </a:rPr>
              <a:t>Q2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329184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5D6A7"/>
                </a:solidFill>
              </a:rPr>
              <a:t>إطلاق المنصة
الخدمات الأساسية الثمانية
نظام التسجيل والإدارة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2011680"/>
            <a:ext cx="3291840" cy="41148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31920" y="2011680"/>
            <a:ext cx="3291840" cy="73152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21031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D54F"/>
                </a:solidFill>
              </a:rPr>
              <a:t>المرحلة 2
قيد التطوير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834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AAD6A"/>
                </a:solidFill>
              </a:rPr>
              <a:t>Q3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29184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5D6A7"/>
                </a:solidFill>
              </a:rPr>
              <a:t>تطبيق موبايل (Android/iOS)
نظام الدفع الإلكتروني
توسيع قاعدة المستخدمين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2011680"/>
            <a:ext cx="3291840" cy="41148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2011680"/>
            <a:ext cx="3291840" cy="73152"/>
          </a:xfrm>
          <a:prstGeom prst="rect">
            <a:avLst/>
          </a:prstGeom>
          <a:solidFill>
            <a:srgbClr val="6AA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59" y="21031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AAD6A"/>
                </a:solidFill>
              </a:rPr>
              <a:t>المرحلة 3
مستقبلية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59" y="2834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AAD6A"/>
                </a:solidFill>
              </a:rPr>
              <a:t>Q4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59" y="329184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5D6A7"/>
                </a:solidFill>
              </a:rPr>
              <a:t>شراكات مع مؤسسات إعلامية
نظام التوصيات بالذكاء الاصطناعي
التوسع لدول المغرب العربي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6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1371600"/>
            <a:ext cx="5029200" cy="5029200"/>
          </a:xfrm>
          <a:prstGeom prst="rect">
            <a:avLst/>
          </a:prstGeom>
          <a:solidFill>
            <a:srgbClr val="002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A355"/>
                </a:solidFill>
              </a:rPr>
              <a:t>ما نحتاجه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انضم إلى رحلة سند</a:t>
            </a:r>
          </a:p>
        </p:txBody>
      </p:sp>
      <p:sp>
        <p:nvSpPr>
          <p:cNvPr id="6" name="Rectangle 5"/>
          <p:cNvSpPr/>
          <p:nvPr/>
        </p:nvSpPr>
        <p:spPr>
          <a:xfrm>
            <a:off x="5394960" y="1920240"/>
            <a:ext cx="1371600" cy="45720"/>
          </a:xfrm>
          <a:prstGeom prst="rect">
            <a:avLst/>
          </a:prstGeom>
          <a:solidFill>
            <a:srgbClr val="00A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38160" y="2560320"/>
            <a:ext cx="3017520" cy="27432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27432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🏛️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33832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A355"/>
                </a:solidFill>
              </a:rPr>
              <a:t>دعم منصة الشركات الناشئة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397763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5D6A7"/>
                </a:solidFill>
              </a:rPr>
              <a:t>الاستفادة من برامج الدعم والتمويل الحكومي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2560320"/>
            <a:ext cx="3017520" cy="27432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7432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3832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A355"/>
                </a:solidFill>
              </a:rPr>
              <a:t>شراكات مؤسسية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97763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5D6A7"/>
                </a:solidFill>
              </a:rPr>
              <a:t>التعاون مع وزارة الاتصال والمؤسسات الإعلامية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19" y="2560320"/>
            <a:ext cx="3017520" cy="27432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7432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3832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A355"/>
                </a:solidFill>
              </a:rPr>
              <a:t>انتشار وتسويق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97763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5D6A7"/>
                </a:solidFill>
              </a:rPr>
              <a:t>الوصول إلى أكبر عدد من الإعلاميين الجزائريين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943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AAD6A"/>
                </a:solidFill>
              </a:rPr>
              <a:t>sanadz.media  |  officialelvaz@gmail.com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